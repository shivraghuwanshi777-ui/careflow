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5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CareFlow</c:v>
                </c:pt>
              </c:strCache>
            </c:strRef>
          </c:tx>
          <c:spPr>
            <a:solidFill>
              <a:srgbClr val="E887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Documentation
time (min)</c:v>
                </c:pt>
                <c:pt idx="1">
                  <c:v>Retrieval
time (min)</c:v>
                </c:pt>
                <c:pt idx="2">
                  <c:v>Record
completeness (%)</c:v>
                </c:pt>
                <c:pt idx="3">
                  <c:v>Repeat questioning
(per 10 visits)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8</c:v>
                </c:pt>
                <c:pt idx="2">
                  <c:v>60</c:v>
                </c:pt>
                <c:pt idx="3">
                  <c:v>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CareFlow</c:v>
                </c:pt>
              </c:strCache>
            </c:strRef>
          </c:tx>
          <c:spPr>
            <a:solidFill>
              <a:srgbClr val="0E8A8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B2A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Documentation
time (min)</c:v>
                </c:pt>
                <c:pt idx="1">
                  <c:v>Retrieval
time (min)</c:v>
                </c:pt>
                <c:pt idx="2">
                  <c:v>Record
completeness (%)</c:v>
                </c:pt>
                <c:pt idx="3">
                  <c:v>Repeat questioning
(per 10 visits)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</c:v>
                </c:pt>
                <c:pt idx="2">
                  <c:v>95</c:v>
                </c:pt>
                <c:pt idx="3">
                  <c:v>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44557400"/>
        <c:axId val="244553872"/>
      </c:barChart>
      <c:catAx>
        <c:axId val="24455740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4A5568"/>
                </a:solidFill>
                <a:latin typeface="Calibri"/>
              </a:defRPr>
            </a:pPr>
            <a:endParaRPr lang="en-US"/>
          </a:p>
        </c:txPr>
        <c:crossAx val="244553872"/>
        <c:crosses val="autoZero"/>
        <c:auto val="1"/>
        <c:lblAlgn val="ctr"/>
        <c:lblOffset val="100"/>
        <c:noMultiLvlLbl val="1"/>
      </c:catAx>
      <c:valAx>
        <c:axId val="24455387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4455740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654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/slide1_hd-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373487" y="1777285"/>
            <a:ext cx="5357612" cy="38636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804007" y="164592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804007" y="4343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&amp; Solution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5455768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./icons/scatte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180" y="15284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25880" y="1490472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TODAY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965960"/>
            <a:ext cx="49071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case notes scattered across paper sheets and disconnected records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manual questioning at every visit wastes clinician time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Incomplete, illegible histories slow down retrieval during consultation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●"/>
            </a:pP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search, audit or reuse past case data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78728" y="1234440"/>
            <a:ext cx="5455768" cy="2331720"/>
          </a:xfrm>
          <a:prstGeom prst="roundRect">
            <a:avLst>
              <a:gd name="adj" fmla="val 4706"/>
            </a:avLst>
          </a:prstGeom>
          <a:solidFill>
            <a:srgbClr val="E3F5F2"/>
          </a:solidFill>
          <a:ln/>
        </p:spPr>
      </p:sp>
      <p:sp>
        <p:nvSpPr>
          <p:cNvPr id="10" name="Shape 7"/>
          <p:cNvSpPr/>
          <p:nvPr/>
        </p:nvSpPr>
        <p:spPr>
          <a:xfrm>
            <a:off x="6507328" y="14630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./icons/for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707" y="1528420"/>
            <a:ext cx="372161" cy="37216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47408" y="1490472"/>
            <a:ext cx="4358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— CAREFLOW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6553048" y="2011680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—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forms for symptoms, history, vitals, allergies &amp; complaints</a:t>
            </a:r>
            <a:endParaRPr lang="en-US" sz="1250" dirty="0"/>
          </a:p>
        </p:txBody>
      </p:sp>
      <p:sp>
        <p:nvSpPr>
          <p:cNvPr id="14" name="Text 10"/>
          <p:cNvSpPr txBox="1"/>
          <p:nvPr/>
        </p:nvSpPr>
        <p:spPr>
          <a:xfrm>
            <a:off x="6553048" y="2578608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—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notes become one structured, searchable case record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6553048" y="3145536"/>
            <a:ext cx="49071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— </a:t>
            </a:r>
            <a:r>
              <a:rPr lang="en-US" sz="12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lets authorized staff view and update safely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457200" y="3840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PROCESS  vs.  WITH CAREFLOW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3755345"/>
              </p:ext>
            </p:extLst>
          </p:nvPr>
        </p:nvGraphicFramePr>
        <p:xfrm>
          <a:off x="457201" y="4160520"/>
          <a:ext cx="7424669" cy="1828800"/>
        </p:xfrm>
        <a:graphic>
          <a:graphicData uri="http://schemas.openxmlformats.org/drawingml/2006/table">
            <a:tbl>
              <a:tblPr/>
              <a:tblGrid>
                <a:gridCol w="2078907"/>
                <a:gridCol w="2672881"/>
                <a:gridCol w="2672881"/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Traditional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CareFlow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8A8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Manual, repetitive, paper-based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Guided, one-time structured entry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Slow, manual search through files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searchable digital record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control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Uncontrolled, no audit trail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4A55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Role-based, audit-friendly logs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5F2"/>
                    </a:solidFill>
                  </a:tcPr>
                </a:tc>
              </a:tr>
            </a:tbl>
          </a:graphicData>
        </a:graphic>
      </p:graphicFrame>
      <p:sp>
        <p:nvSpPr>
          <p:cNvPr id="25" name="Text 19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  |  Smart India Hackathon 2026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36873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7" name="Rounded Rectangle 26"/>
          <p:cNvSpPr/>
          <p:nvPr/>
        </p:nvSpPr>
        <p:spPr>
          <a:xfrm>
            <a:off x="103031" y="155448"/>
            <a:ext cx="1957589" cy="91440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>
                    <a:lumMod val="95000"/>
                    <a:lumOff val="5000"/>
                  </a:schemeClr>
                </a:solidFill>
              </a:rPr>
              <a:t>NextGenCoder</a:t>
            </a:r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80386" y="3741229"/>
            <a:ext cx="4119869" cy="21869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14015" y="306324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414016" y="548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WORKFLOW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E88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pic>
        <p:nvPicPr>
          <p:cNvPr id="7" name="Image 0" descr="./icons/intak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1993392"/>
            <a:ext cx="438912" cy="438912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86384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intake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924812" y="2304288"/>
            <a:ext cx="182880" cy="274320"/>
          </a:xfrm>
          <a:prstGeom prst="chevron">
            <a:avLst/>
          </a:prstGeom>
          <a:solidFill>
            <a:srgbClr val="4A5568"/>
          </a:solidFill>
          <a:ln/>
        </p:spPr>
      </p:sp>
      <p:sp>
        <p:nvSpPr>
          <p:cNvPr id="10" name="Shape 7"/>
          <p:cNvSpPr/>
          <p:nvPr/>
        </p:nvSpPr>
        <p:spPr>
          <a:xfrm>
            <a:off x="2048256" y="17373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0E8A8A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2103120" y="1792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pic>
        <p:nvPicPr>
          <p:cNvPr id="12" name="Image 1" descr="./icons/formste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19933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084832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case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23260" y="2304288"/>
            <a:ext cx="182880" cy="274320"/>
          </a:xfrm>
          <a:prstGeom prst="chevron">
            <a:avLst/>
          </a:prstGeom>
          <a:solidFill>
            <a:srgbClr val="4A5568"/>
          </a:solidFill>
          <a:ln/>
        </p:spPr>
      </p:sp>
      <p:sp>
        <p:nvSpPr>
          <p:cNvPr id="15" name="Shape 11"/>
          <p:cNvSpPr/>
          <p:nvPr/>
        </p:nvSpPr>
        <p:spPr>
          <a:xfrm>
            <a:off x="3346704" y="17373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2E9E5B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401568" y="1792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pic>
        <p:nvPicPr>
          <p:cNvPr id="17" name="Image 2" descr="./icons/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12464" y="1993392"/>
            <a:ext cx="438912" cy="43891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3383280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save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21708" y="2304288"/>
            <a:ext cx="182880" cy="274320"/>
          </a:xfrm>
          <a:prstGeom prst="chevron">
            <a:avLst/>
          </a:prstGeom>
          <a:solidFill>
            <a:srgbClr val="4A5568"/>
          </a:solidFill>
          <a:ln/>
        </p:spPr>
      </p:sp>
      <p:sp>
        <p:nvSpPr>
          <p:cNvPr id="20" name="Shape 15"/>
          <p:cNvSpPr/>
          <p:nvPr/>
        </p:nvSpPr>
        <p:spPr>
          <a:xfrm>
            <a:off x="4645152" y="17373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0E8A8A"/>
          </a:solidFill>
          <a:ln/>
        </p:spPr>
      </p:sp>
      <p:sp>
        <p:nvSpPr>
          <p:cNvPr id="21" name="Text 16"/>
          <p:cNvSpPr txBox="1"/>
          <p:nvPr/>
        </p:nvSpPr>
        <p:spPr>
          <a:xfrm>
            <a:off x="4700016" y="1792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pic>
        <p:nvPicPr>
          <p:cNvPr id="22" name="Image 3" descr="./icons/doct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10912" y="1993392"/>
            <a:ext cx="438912" cy="43891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4681728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Clinician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820156" y="2304288"/>
            <a:ext cx="182880" cy="274320"/>
          </a:xfrm>
          <a:prstGeom prst="chevron">
            <a:avLst/>
          </a:prstGeom>
          <a:solidFill>
            <a:srgbClr val="4A5568"/>
          </a:solidFill>
          <a:ln/>
        </p:spPr>
      </p:sp>
      <p:sp>
        <p:nvSpPr>
          <p:cNvPr id="25" name="Shape 19"/>
          <p:cNvSpPr/>
          <p:nvPr/>
        </p:nvSpPr>
        <p:spPr>
          <a:xfrm>
            <a:off x="5943600" y="1737360"/>
            <a:ext cx="1170432" cy="1417320"/>
          </a:xfrm>
          <a:prstGeom prst="roundRect">
            <a:avLst>
              <a:gd name="adj" fmla="val 7813"/>
            </a:avLst>
          </a:prstGeom>
          <a:solidFill>
            <a:srgbClr val="1B2A4A"/>
          </a:solidFill>
          <a:ln/>
        </p:spPr>
      </p:sp>
      <p:sp>
        <p:nvSpPr>
          <p:cNvPr id="26" name="Text 20"/>
          <p:cNvSpPr txBox="1"/>
          <p:nvPr/>
        </p:nvSpPr>
        <p:spPr>
          <a:xfrm>
            <a:off x="5998464" y="179222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pic>
        <p:nvPicPr>
          <p:cNvPr id="27" name="Image 4" descr="./icons/updow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09360" y="1993392"/>
            <a:ext cx="438912" cy="438912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980176" y="251460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57200" y="3474720"/>
            <a:ext cx="6949440" cy="1417320"/>
          </a:xfrm>
          <a:prstGeom prst="roundRect">
            <a:avLst>
              <a:gd name="adj" fmla="val 7742"/>
            </a:avLst>
          </a:prstGeom>
          <a:solidFill>
            <a:srgbClr val="F4F6F8"/>
          </a:solidFill>
          <a:ln/>
        </p:spPr>
      </p:sp>
      <p:sp>
        <p:nvSpPr>
          <p:cNvPr id="30" name="Text 23"/>
          <p:cNvSpPr txBox="1"/>
          <p:nvPr/>
        </p:nvSpPr>
        <p:spPr>
          <a:xfrm>
            <a:off x="685800" y="3611880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UNDER THE HOOD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685800" y="393192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front-end renders condition-aware guided forms; each step posts to REST APIs on the Node.js layer.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validates payloads, applies RBAC checks, then writes structured records to PostgreSQL.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→"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read/write is logged for audit; clinicians pull records instantly through the same API layer.</a:t>
            </a:r>
            <a:endParaRPr lang="en-US" sz="1100" dirty="0"/>
          </a:p>
        </p:txBody>
      </p:sp>
      <p:sp>
        <p:nvSpPr>
          <p:cNvPr id="32" name="Text 25"/>
          <p:cNvSpPr txBox="1"/>
          <p:nvPr/>
        </p:nvSpPr>
        <p:spPr>
          <a:xfrm>
            <a:off x="457200" y="49834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principle:  </a:t>
            </a:r>
            <a:r>
              <a:rPr lang="en-US" sz="10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forms + API layer + secure structured storage, built for incremental deployment and future interoperability.</a:t>
            </a:r>
            <a:endParaRPr lang="en-US" sz="1050" dirty="0"/>
          </a:p>
        </p:txBody>
      </p:sp>
      <p:sp>
        <p:nvSpPr>
          <p:cNvPr id="33" name="Text 26"/>
          <p:cNvSpPr txBox="1"/>
          <p:nvPr/>
        </p:nvSpPr>
        <p:spPr>
          <a:xfrm>
            <a:off x="7726680" y="1234440"/>
            <a:ext cx="40078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TECHNOLOGY STACK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7726680" y="1691640"/>
            <a:ext cx="400781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7891272" y="1833372"/>
            <a:ext cx="585216" cy="585216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36" name="Image 5" descr="./icons/react_log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01000" y="1943100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8595360" y="1801368"/>
            <a:ext cx="3001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38" name="Text 30"/>
          <p:cNvSpPr txBox="1"/>
          <p:nvPr/>
        </p:nvSpPr>
        <p:spPr>
          <a:xfrm>
            <a:off x="8595360" y="2075688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responsive web UI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7726680" y="2706624"/>
            <a:ext cx="400781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891272" y="2848356"/>
            <a:ext cx="585216" cy="585216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41" name="Image 6" descr="./icons/node_log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01000" y="2958084"/>
            <a:ext cx="365760" cy="36576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8595360" y="2816352"/>
            <a:ext cx="3001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43" name="Text 34"/>
          <p:cNvSpPr txBox="1"/>
          <p:nvPr/>
        </p:nvSpPr>
        <p:spPr>
          <a:xfrm>
            <a:off x="8595360" y="3090672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— REST APIs</a:t>
            </a:r>
            <a:endParaRPr lang="en-US" sz="1050" dirty="0"/>
          </a:p>
        </p:txBody>
      </p:sp>
      <p:sp>
        <p:nvSpPr>
          <p:cNvPr id="44" name="Shape 35"/>
          <p:cNvSpPr/>
          <p:nvPr/>
        </p:nvSpPr>
        <p:spPr>
          <a:xfrm>
            <a:off x="7726680" y="3721608"/>
            <a:ext cx="400781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7891272" y="3863340"/>
            <a:ext cx="585216" cy="585216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46" name="Image 7" descr="./icons/db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01000" y="3973068"/>
            <a:ext cx="365760" cy="365760"/>
          </a:xfrm>
          <a:prstGeom prst="rect">
            <a:avLst/>
          </a:prstGeom>
        </p:spPr>
      </p:pic>
      <p:sp>
        <p:nvSpPr>
          <p:cNvPr id="47" name="Text 37"/>
          <p:cNvSpPr txBox="1"/>
          <p:nvPr/>
        </p:nvSpPr>
        <p:spPr>
          <a:xfrm>
            <a:off x="8595360" y="3831336"/>
            <a:ext cx="3001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8595360" y="4105656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— structured records</a:t>
            </a:r>
            <a:endParaRPr lang="en-US" sz="1050" dirty="0"/>
          </a:p>
        </p:txBody>
      </p:sp>
      <p:sp>
        <p:nvSpPr>
          <p:cNvPr id="49" name="Shape 39"/>
          <p:cNvSpPr/>
          <p:nvPr/>
        </p:nvSpPr>
        <p:spPr>
          <a:xfrm>
            <a:off x="7726680" y="4736592"/>
            <a:ext cx="400781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7891272" y="4878324"/>
            <a:ext cx="585216" cy="585216"/>
          </a:xfrm>
          <a:prstGeom prst="ellipse">
            <a:avLst/>
          </a:prstGeom>
          <a:solidFill>
            <a:srgbClr val="F4F6F8"/>
          </a:solidFill>
          <a:ln/>
        </p:spPr>
      </p:sp>
      <p:pic>
        <p:nvPicPr>
          <p:cNvPr id="51" name="Image 8" descr="./icons/shiel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01000" y="4988052"/>
            <a:ext cx="365760" cy="365760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8595360" y="4846320"/>
            <a:ext cx="30019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100" dirty="0"/>
          </a:p>
        </p:txBody>
      </p:sp>
      <p:sp>
        <p:nvSpPr>
          <p:cNvPr id="53" name="Text 42"/>
          <p:cNvSpPr txBox="1"/>
          <p:nvPr/>
        </p:nvSpPr>
        <p:spPr>
          <a:xfrm>
            <a:off x="8595360" y="5120640"/>
            <a:ext cx="3001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RBAC, audit logs</a:t>
            </a:r>
            <a:endParaRPr lang="en-US" sz="1050" dirty="0"/>
          </a:p>
        </p:txBody>
      </p:sp>
      <p:sp>
        <p:nvSpPr>
          <p:cNvPr id="54" name="Shape 43"/>
          <p:cNvSpPr/>
          <p:nvPr/>
        </p:nvSpPr>
        <p:spPr>
          <a:xfrm>
            <a:off x="7726680" y="5797296"/>
            <a:ext cx="4007815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prstDash val="solid"/>
          </a:ln>
        </p:spPr>
      </p:sp>
      <p:pic>
        <p:nvPicPr>
          <p:cNvPr id="55" name="Image 9" descr="./icons/github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09560" y="5980176"/>
            <a:ext cx="384048" cy="384048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8412480" y="5934456"/>
            <a:ext cx="318485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</a:t>
            </a:r>
            <a:endParaRPr lang="en-US" sz="1050" dirty="0"/>
          </a:p>
        </p:txBody>
      </p:sp>
      <p:sp>
        <p:nvSpPr>
          <p:cNvPr id="57" name="Text 45"/>
          <p:cNvSpPr txBox="1"/>
          <p:nvPr/>
        </p:nvSpPr>
        <p:spPr>
          <a:xfrm>
            <a:off x="7909560" y="6373368"/>
            <a:ext cx="36420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pahttps://github.com/shivraghuwanshi777-uiste </a:t>
            </a:r>
            <a:r>
              <a:rPr lang="en-US" sz="100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link here</a:t>
            </a:r>
            <a:endParaRPr lang="en-US" sz="1000" dirty="0"/>
          </a:p>
        </p:txBody>
      </p:sp>
      <p:sp>
        <p:nvSpPr>
          <p:cNvPr id="58" name="Shape 46"/>
          <p:cNvSpPr/>
          <p:nvPr/>
        </p:nvSpPr>
        <p:spPr>
          <a:xfrm>
            <a:off x="7909560" y="6647688"/>
            <a:ext cx="3642055" cy="0"/>
          </a:xfrm>
          <a:prstGeom prst="line">
            <a:avLst/>
          </a:prstGeom>
          <a:noFill/>
          <a:ln w="12700">
            <a:solidFill>
              <a:srgbClr val="1B2A4A"/>
            </a:solidFill>
            <a:prstDash val="dash"/>
          </a:ln>
        </p:spPr>
      </p:sp>
      <p:sp>
        <p:nvSpPr>
          <p:cNvPr id="59" name="Text 47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  |  Smart India Hackathon 2026</a:t>
            </a:r>
            <a:endParaRPr lang="en-US" sz="900" dirty="0"/>
          </a:p>
        </p:txBody>
      </p:sp>
      <p:sp>
        <p:nvSpPr>
          <p:cNvPr id="60" name="Text 48"/>
          <p:cNvSpPr txBox="1"/>
          <p:nvPr/>
        </p:nvSpPr>
        <p:spPr>
          <a:xfrm>
            <a:off x="1136873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pic>
        <p:nvPicPr>
          <p:cNvPr id="61" name="Picture 6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8513" y="85304"/>
            <a:ext cx="1969179" cy="92667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427667" y="312055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2427668" y="560746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&amp; Viability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576218" cy="2148840"/>
          </a:xfrm>
          <a:prstGeom prst="roundRect">
            <a:avLst>
              <a:gd name="adj" fmla="val 5106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1833829" y="1490472"/>
            <a:ext cx="822960" cy="82296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6" name="Image 0" descr="./icons/g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0814" y="1597457"/>
            <a:ext cx="608990" cy="60899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23160"/>
            <a:ext cx="3301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2743200"/>
            <a:ext cx="3119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Widely-adopted web stack. Modular design. Browser-based MVP — no special hardware.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07738" y="1234440"/>
            <a:ext cx="3576218" cy="2148840"/>
          </a:xfrm>
          <a:prstGeom prst="roundRect">
            <a:avLst>
              <a:gd name="adj" fmla="val 5106"/>
            </a:avLst>
          </a:prstGeom>
          <a:solidFill>
            <a:srgbClr val="F4F6F8"/>
          </a:solidFill>
          <a:ln/>
        </p:spPr>
      </p:sp>
      <p:sp>
        <p:nvSpPr>
          <p:cNvPr id="10" name="Shape 7"/>
          <p:cNvSpPr/>
          <p:nvPr/>
        </p:nvSpPr>
        <p:spPr>
          <a:xfrm>
            <a:off x="5684368" y="1490472"/>
            <a:ext cx="822960" cy="822960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11" name="Image 1" descr="./icons/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1352" y="1597457"/>
            <a:ext cx="608990" cy="60899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444898" y="2423160"/>
            <a:ext cx="3301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FEASIBILITY</a:t>
            </a:r>
            <a:endParaRPr lang="en-US" sz="1250" dirty="0"/>
          </a:p>
        </p:txBody>
      </p:sp>
      <p:sp>
        <p:nvSpPr>
          <p:cNvPr id="13" name="Text 9"/>
          <p:cNvSpPr txBox="1"/>
          <p:nvPr/>
        </p:nvSpPr>
        <p:spPr>
          <a:xfrm>
            <a:off x="4536338" y="2743200"/>
            <a:ext cx="3119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workflows cut training time. Forms adapt to each department’s process.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8158277" y="1234440"/>
            <a:ext cx="3576218" cy="2148840"/>
          </a:xfrm>
          <a:prstGeom prst="roundRect">
            <a:avLst>
              <a:gd name="adj" fmla="val 5106"/>
            </a:avLst>
          </a:prstGeom>
          <a:solidFill>
            <a:srgbClr val="F4F6F8"/>
          </a:solidFill>
          <a:ln/>
        </p:spPr>
      </p:sp>
      <p:sp>
        <p:nvSpPr>
          <p:cNvPr id="15" name="Shape 11"/>
          <p:cNvSpPr/>
          <p:nvPr/>
        </p:nvSpPr>
        <p:spPr>
          <a:xfrm>
            <a:off x="9534906" y="1490472"/>
            <a:ext cx="822960" cy="82296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16" name="Image 2" descr="./icons/rup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41891" y="1597457"/>
            <a:ext cx="608990" cy="60899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295437" y="2423160"/>
            <a:ext cx="330189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FEASIBILITY</a:t>
            </a:r>
            <a:endParaRPr lang="en-US" sz="1250" dirty="0"/>
          </a:p>
        </p:txBody>
      </p:sp>
      <p:sp>
        <p:nvSpPr>
          <p:cNvPr id="18" name="Text 13"/>
          <p:cNvSpPr txBox="1"/>
          <p:nvPr/>
        </p:nvSpPr>
        <p:spPr>
          <a:xfrm>
            <a:off x="8386877" y="2743200"/>
            <a:ext cx="31190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Software-first build enables phased rollout, reuse of existing devices, controlled cost.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457200" y="3703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 →  MITIGATION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457200" y="406908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DEEE1"/>
          </a:solidFill>
          <a:ln/>
        </p:spPr>
      </p:sp>
      <p:pic>
        <p:nvPicPr>
          <p:cNvPr id="21" name="Image 3" descr="./icons/ri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20624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960120" y="4069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&amp; unauthorized access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257800" y="4224528"/>
            <a:ext cx="457200" cy="256032"/>
          </a:xfrm>
          <a:prstGeom prst="chevron">
            <a:avLst/>
          </a:prstGeom>
          <a:solidFill>
            <a:srgbClr val="0E8A8A"/>
          </a:solidFill>
          <a:ln/>
        </p:spPr>
      </p:sp>
      <p:sp>
        <p:nvSpPr>
          <p:cNvPr id="24" name="Shape 18"/>
          <p:cNvSpPr/>
          <p:nvPr/>
        </p:nvSpPr>
        <p:spPr>
          <a:xfrm>
            <a:off x="5852160" y="4069080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3F5F2"/>
          </a:solidFill>
          <a:ln/>
        </p:spPr>
      </p:sp>
      <p:pic>
        <p:nvPicPr>
          <p:cNvPr id="25" name="Image 4" descr="./icons/miti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4206240"/>
            <a:ext cx="292608" cy="292608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6355080" y="4069080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RBAC, encryption, secure sessions, audit logs</a:t>
            </a:r>
            <a:endParaRPr lang="en-US" sz="1050" dirty="0"/>
          </a:p>
        </p:txBody>
      </p:sp>
      <p:sp>
        <p:nvSpPr>
          <p:cNvPr id="27" name="Shape 20"/>
          <p:cNvSpPr/>
          <p:nvPr/>
        </p:nvSpPr>
        <p:spPr>
          <a:xfrm>
            <a:off x="457200" y="478231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DEEE1"/>
          </a:solidFill>
          <a:ln/>
        </p:spPr>
      </p:sp>
      <p:pic>
        <p:nvPicPr>
          <p:cNvPr id="28" name="Image 5" descr="./icons/ri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4919472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960120" y="47823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or incomplete entries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257800" y="4937760"/>
            <a:ext cx="457200" cy="256032"/>
          </a:xfrm>
          <a:prstGeom prst="chevron">
            <a:avLst/>
          </a:prstGeom>
          <a:solidFill>
            <a:srgbClr val="0E8A8A"/>
          </a:solidFill>
          <a:ln/>
        </p:spPr>
      </p:sp>
      <p:sp>
        <p:nvSpPr>
          <p:cNvPr id="31" name="Shape 23"/>
          <p:cNvSpPr/>
          <p:nvPr/>
        </p:nvSpPr>
        <p:spPr>
          <a:xfrm>
            <a:off x="5852160" y="4782312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3F5F2"/>
          </a:solidFill>
          <a:ln/>
        </p:spPr>
      </p:sp>
      <p:pic>
        <p:nvPicPr>
          <p:cNvPr id="32" name="Image 6" descr="./icons/miti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4919472"/>
            <a:ext cx="292608" cy="292608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355080" y="4782312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fields, validation, configurable templates</a:t>
            </a:r>
            <a:endParaRPr lang="en-US" sz="1050" dirty="0"/>
          </a:p>
        </p:txBody>
      </p:sp>
      <p:sp>
        <p:nvSpPr>
          <p:cNvPr id="34" name="Shape 25"/>
          <p:cNvSpPr/>
          <p:nvPr/>
        </p:nvSpPr>
        <p:spPr>
          <a:xfrm>
            <a:off x="457200" y="549554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FDEEE1"/>
          </a:solidFill>
          <a:ln/>
        </p:spPr>
      </p:sp>
      <p:pic>
        <p:nvPicPr>
          <p:cNvPr id="35" name="Image 7" descr="./icons/ri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" y="5632704"/>
            <a:ext cx="292608" cy="292608"/>
          </a:xfrm>
          <a:prstGeom prst="rect">
            <a:avLst/>
          </a:prstGeom>
        </p:spPr>
      </p:pic>
      <p:sp>
        <p:nvSpPr>
          <p:cNvPr id="36" name="Text 26"/>
          <p:cNvSpPr txBox="1"/>
          <p:nvPr/>
        </p:nvSpPr>
        <p:spPr>
          <a:xfrm>
            <a:off x="960120" y="5495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resistance / workflow mismatch</a:t>
            </a:r>
            <a:endParaRPr lang="en-US" sz="1050" dirty="0"/>
          </a:p>
        </p:txBody>
      </p:sp>
      <p:sp>
        <p:nvSpPr>
          <p:cNvPr id="37" name="Shape 27"/>
          <p:cNvSpPr/>
          <p:nvPr/>
        </p:nvSpPr>
        <p:spPr>
          <a:xfrm>
            <a:off x="5257800" y="5650992"/>
            <a:ext cx="457200" cy="256032"/>
          </a:xfrm>
          <a:prstGeom prst="chevron">
            <a:avLst/>
          </a:prstGeom>
          <a:solidFill>
            <a:srgbClr val="0E8A8A"/>
          </a:solidFill>
          <a:ln/>
        </p:spPr>
      </p:sp>
      <p:sp>
        <p:nvSpPr>
          <p:cNvPr id="38" name="Shape 28"/>
          <p:cNvSpPr/>
          <p:nvPr/>
        </p:nvSpPr>
        <p:spPr>
          <a:xfrm>
            <a:off x="5852160" y="5495544"/>
            <a:ext cx="4663440" cy="566928"/>
          </a:xfrm>
          <a:prstGeom prst="roundRect">
            <a:avLst>
              <a:gd name="adj" fmla="val 12903"/>
            </a:avLst>
          </a:prstGeom>
          <a:solidFill>
            <a:srgbClr val="E3F5F2"/>
          </a:solidFill>
          <a:ln/>
        </p:spPr>
      </p:sp>
      <p:pic>
        <p:nvPicPr>
          <p:cNvPr id="39" name="Image 8" descr="./icons/mitiga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61888" y="5632704"/>
            <a:ext cx="292608" cy="292608"/>
          </a:xfrm>
          <a:prstGeom prst="rect">
            <a:avLst/>
          </a:prstGeom>
        </p:spPr>
      </p:pic>
      <p:sp>
        <p:nvSpPr>
          <p:cNvPr id="40" name="Text 29"/>
          <p:cNvSpPr txBox="1"/>
          <p:nvPr/>
        </p:nvSpPr>
        <p:spPr>
          <a:xfrm>
            <a:off x="6355080" y="5495544"/>
            <a:ext cx="4023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testing, user feedback, phased deployment</a:t>
            </a:r>
            <a:endParaRPr lang="en-US" sz="1050" dirty="0"/>
          </a:p>
        </p:txBody>
      </p:sp>
      <p:sp>
        <p:nvSpPr>
          <p:cNvPr id="41" name="Text 30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  |  Smart India Hackathon 2026</a:t>
            </a:r>
            <a:endParaRPr lang="en-US" sz="900" dirty="0"/>
          </a:p>
        </p:txBody>
      </p:sp>
      <p:sp>
        <p:nvSpPr>
          <p:cNvPr id="42" name="Text 31"/>
          <p:cNvSpPr txBox="1"/>
          <p:nvPr/>
        </p:nvSpPr>
        <p:spPr>
          <a:xfrm>
            <a:off x="1136873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165" y="161464"/>
            <a:ext cx="1969179" cy="92667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076497" y="22860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3076498" y="485534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Benefits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188720"/>
            <a:ext cx="112772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 improves the quality and continuity of information at the first point of clinical interaction.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40080" cy="640080"/>
          </a:xfrm>
          <a:prstGeom prst="ellipse">
            <a:avLst/>
          </a:prstGeom>
          <a:solidFill>
            <a:srgbClr val="2E9E5B"/>
          </a:solidFill>
          <a:ln/>
        </p:spPr>
      </p:sp>
      <p:pic>
        <p:nvPicPr>
          <p:cNvPr id="6" name="Image 0" descr="./icons/pat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10" y="1729130"/>
            <a:ext cx="473659" cy="47365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34440" y="1645920"/>
            <a:ext cx="27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PATIENTS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1234440" y="1920240"/>
            <a:ext cx="2798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repetitive questioning, smoother intake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307738" y="1645920"/>
            <a:ext cx="640080" cy="640080"/>
          </a:xfrm>
          <a:prstGeom prst="ellipse">
            <a:avLst/>
          </a:prstGeom>
          <a:solidFill>
            <a:srgbClr val="0E8A8A"/>
          </a:solidFill>
          <a:ln/>
        </p:spPr>
      </p:sp>
      <p:pic>
        <p:nvPicPr>
          <p:cNvPr id="10" name="Image 1" descr="./icons/clinici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0949" y="1729130"/>
            <a:ext cx="473659" cy="47365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084978" y="1645920"/>
            <a:ext cx="27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CLINICIANS</a:t>
            </a:r>
            <a:endParaRPr lang="en-US" sz="1150" dirty="0"/>
          </a:p>
        </p:txBody>
      </p:sp>
      <p:sp>
        <p:nvSpPr>
          <p:cNvPr id="12" name="Text 8"/>
          <p:cNvSpPr txBox="1"/>
          <p:nvPr/>
        </p:nvSpPr>
        <p:spPr>
          <a:xfrm>
            <a:off x="5084978" y="1920240"/>
            <a:ext cx="2798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access to structured history, less time searching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8158277" y="16459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4" name="Image 2" descr="./icons/facilit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41487" y="1729130"/>
            <a:ext cx="473659" cy="473659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8935517" y="1645920"/>
            <a:ext cx="27989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FACILITIES</a:t>
            </a:r>
            <a:endParaRPr lang="en-US" sz="1150" dirty="0"/>
          </a:p>
        </p:txBody>
      </p:sp>
      <p:sp>
        <p:nvSpPr>
          <p:cNvPr id="16" name="Text 11"/>
          <p:cNvSpPr txBox="1"/>
          <p:nvPr/>
        </p:nvSpPr>
        <p:spPr>
          <a:xfrm>
            <a:off x="8935517" y="1920240"/>
            <a:ext cx="279897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records, traceability, analytics-ready</a:t>
            </a:r>
            <a:endParaRPr lang="en-US" sz="1000" dirty="0"/>
          </a:p>
        </p:txBody>
      </p:sp>
      <p:sp>
        <p:nvSpPr>
          <p:cNvPr id="17" name="Text 12"/>
          <p:cNvSpPr txBox="1"/>
          <p:nvPr/>
        </p:nvSpPr>
        <p:spPr>
          <a:xfrm>
            <a:off x="457200" y="2697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IMPACT — BEFORE vs. AFTER CAREFLOW</a:t>
            </a:r>
            <a:endParaRPr lang="en-US" sz="125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457200" y="3017520"/>
          <a:ext cx="72237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Shape 13"/>
          <p:cNvSpPr/>
          <p:nvPr/>
        </p:nvSpPr>
        <p:spPr>
          <a:xfrm>
            <a:off x="7863840" y="3017520"/>
            <a:ext cx="3870655" cy="2331720"/>
          </a:xfrm>
          <a:prstGeom prst="roundRect">
            <a:avLst>
              <a:gd name="adj" fmla="val 4706"/>
            </a:avLst>
          </a:prstGeom>
          <a:solidFill>
            <a:srgbClr val="F4F6F8"/>
          </a:solidFill>
          <a:ln/>
        </p:spPr>
      </p:sp>
      <p:sp>
        <p:nvSpPr>
          <p:cNvPr id="20" name="Shape 14"/>
          <p:cNvSpPr/>
          <p:nvPr/>
        </p:nvSpPr>
        <p:spPr>
          <a:xfrm>
            <a:off x="9506560" y="3200400"/>
            <a:ext cx="585216" cy="585216"/>
          </a:xfrm>
          <a:prstGeom prst="ellipse">
            <a:avLst/>
          </a:prstGeom>
          <a:solidFill>
            <a:srgbClr val="E8873A"/>
          </a:solidFill>
          <a:ln/>
        </p:spPr>
      </p:sp>
      <p:pic>
        <p:nvPicPr>
          <p:cNvPr id="21" name="Image 3" descr="./icons/fu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82638" y="3276478"/>
            <a:ext cx="433060" cy="43306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3886200"/>
            <a:ext cx="3596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8092440" y="4160520"/>
            <a:ext cx="341345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Multilingual &amp; voice-assisted entry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FHIR-based interoperability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 &amp; hospital-system integration</a:t>
            </a:r>
            <a:endParaRPr lang="en-US" sz="950" dirty="0"/>
          </a:p>
        </p:txBody>
      </p:sp>
      <p:sp>
        <p:nvSpPr>
          <p:cNvPr id="24" name="Text 17"/>
          <p:cNvSpPr txBox="1"/>
          <p:nvPr/>
        </p:nvSpPr>
        <p:spPr>
          <a:xfrm>
            <a:off x="457200" y="5394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*Projected / illustrative estimates based on workflow analysis, to be validated during pilot testing.</a:t>
            </a:r>
            <a:endParaRPr lang="en-US" sz="85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  |  Smart India Hackathon 2026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36873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690" y="220443"/>
            <a:ext cx="1969179" cy="9266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48640"/>
            <a:ext cx="112772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&amp; References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areas informing the proposed design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501488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./icons/wh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460" y="1894180"/>
            <a:ext cx="372161" cy="372161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80160" y="18288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HEALTH WORKFLOW CONTEXT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423160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Health Organization — Global strategy on digital health 2020-2025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2816352"/>
            <a:ext cx="504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who.int/publications/i/item/9789240020924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33008" y="1645920"/>
            <a:ext cx="5501488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12" name="Shape 9"/>
          <p:cNvSpPr/>
          <p:nvPr/>
        </p:nvSpPr>
        <p:spPr>
          <a:xfrm>
            <a:off x="6415888" y="182880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3" name="Image 1" descr="./icons/boo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1267" y="1894180"/>
            <a:ext cx="372161" cy="372161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055968" y="182880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DATA INTEROPERABILITY</a:t>
            </a:r>
            <a:endParaRPr lang="en-US" sz="1150" dirty="0"/>
          </a:p>
        </p:txBody>
      </p:sp>
      <p:sp>
        <p:nvSpPr>
          <p:cNvPr id="15" name="Text 11"/>
          <p:cNvSpPr txBox="1"/>
          <p:nvPr/>
        </p:nvSpPr>
        <p:spPr>
          <a:xfrm>
            <a:off x="6461608" y="2423160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 FHIR — standards context for future structured data exchange</a:t>
            </a:r>
            <a:endParaRPr lang="en-US" sz="950" dirty="0"/>
          </a:p>
        </p:txBody>
      </p:sp>
      <p:sp>
        <p:nvSpPr>
          <p:cNvPr id="16" name="Text 12"/>
          <p:cNvSpPr txBox="1"/>
          <p:nvPr/>
        </p:nvSpPr>
        <p:spPr>
          <a:xfrm>
            <a:off x="6461608" y="2816352"/>
            <a:ext cx="504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hl7.org/fhir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" y="3291840"/>
            <a:ext cx="5501488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18" name="Shape 14"/>
          <p:cNvSpPr/>
          <p:nvPr/>
        </p:nvSpPr>
        <p:spPr>
          <a:xfrm>
            <a:off x="640080" y="3474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9" name="Image 2" descr="./icons/l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460" y="3540100"/>
            <a:ext cx="372161" cy="372161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80160" y="347472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SECURITY</a:t>
            </a:r>
            <a:endParaRPr lang="en-US" sz="1150" dirty="0"/>
          </a:p>
        </p:txBody>
      </p:sp>
      <p:sp>
        <p:nvSpPr>
          <p:cNvPr id="21" name="Text 16"/>
          <p:cNvSpPr txBox="1"/>
          <p:nvPr/>
        </p:nvSpPr>
        <p:spPr>
          <a:xfrm>
            <a:off x="685800" y="4069080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 — secure design &amp; web application security guidance</a:t>
            </a:r>
            <a:endParaRPr lang="en-US" sz="950" dirty="0"/>
          </a:p>
        </p:txBody>
      </p:sp>
      <p:sp>
        <p:nvSpPr>
          <p:cNvPr id="22" name="Text 17"/>
          <p:cNvSpPr txBox="1"/>
          <p:nvPr/>
        </p:nvSpPr>
        <p:spPr>
          <a:xfrm>
            <a:off x="685800" y="4462272"/>
            <a:ext cx="504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owasp.org/www-project-top-ten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233008" y="3291840"/>
            <a:ext cx="5501488" cy="1417320"/>
          </a:xfrm>
          <a:prstGeom prst="roundRect">
            <a:avLst>
              <a:gd name="adj" fmla="val 6452"/>
            </a:avLst>
          </a:prstGeom>
          <a:solidFill>
            <a:srgbClr val="F4F6F8"/>
          </a:solidFill>
          <a:ln/>
        </p:spPr>
      </p:sp>
      <p:sp>
        <p:nvSpPr>
          <p:cNvPr id="24" name="Shape 19"/>
          <p:cNvSpPr/>
          <p:nvPr/>
        </p:nvSpPr>
        <p:spPr>
          <a:xfrm>
            <a:off x="6415888" y="347472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5" name="Image 3" descr="./icons/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81267" y="3540100"/>
            <a:ext cx="372161" cy="372161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055968" y="3474720"/>
            <a:ext cx="449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VALIDATION</a:t>
            </a:r>
            <a:endParaRPr lang="en-US" sz="1150" dirty="0"/>
          </a:p>
        </p:txBody>
      </p:sp>
      <p:sp>
        <p:nvSpPr>
          <p:cNvPr id="27" name="Text 21"/>
          <p:cNvSpPr txBox="1"/>
          <p:nvPr/>
        </p:nvSpPr>
        <p:spPr>
          <a:xfrm>
            <a:off x="6461608" y="4069080"/>
            <a:ext cx="50442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interviews, workflow observation, prototype testing &amp; institutional feedback</a:t>
            </a:r>
            <a:endParaRPr lang="en-US" sz="950" dirty="0"/>
          </a:p>
        </p:txBody>
      </p:sp>
      <p:sp>
        <p:nvSpPr>
          <p:cNvPr id="28" name="Text 22"/>
          <p:cNvSpPr txBox="1"/>
          <p:nvPr/>
        </p:nvSpPr>
        <p:spPr>
          <a:xfrm>
            <a:off x="6461608" y="4462272"/>
            <a:ext cx="50442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filled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457200" y="4983480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Product-specific clinical validation, institutional approvals and deployment references will be added during prototype development.</a:t>
            </a:r>
            <a:endParaRPr lang="en-US" sz="950" dirty="0"/>
          </a:p>
        </p:txBody>
      </p:sp>
      <p:sp>
        <p:nvSpPr>
          <p:cNvPr id="30" name="Text 24"/>
          <p:cNvSpPr txBox="1"/>
          <p:nvPr/>
        </p:nvSpPr>
        <p:spPr>
          <a:xfrm>
            <a:off x="457200" y="6537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CareFlow  |  Smart India Hackathon 2026</a:t>
            </a:r>
            <a:endParaRPr lang="en-US" sz="900" dirty="0"/>
          </a:p>
        </p:txBody>
      </p:sp>
      <p:sp>
        <p:nvSpPr>
          <p:cNvPr id="31" name="Text 25"/>
          <p:cNvSpPr txBox="1"/>
          <p:nvPr/>
        </p:nvSpPr>
        <p:spPr>
          <a:xfrm>
            <a:off x="11368735" y="6537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568</Words>
  <Application>Microsoft Office PowerPoint</Application>
  <PresentationFormat>Widescreen</PresentationFormat>
  <Paragraphs>120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MCS</cp:lastModifiedBy>
  <cp:revision>7</cp:revision>
  <dcterms:created xsi:type="dcterms:W3CDTF">2026-09-22T08:36:13Z</dcterms:created>
  <dcterms:modified xsi:type="dcterms:W3CDTF">2026-09-26T17:38:29Z</dcterms:modified>
</cp:coreProperties>
</file>